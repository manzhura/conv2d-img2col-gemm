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Sora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Sora-bold.fntdata"/><Relationship Id="rId16" Type="http://schemas.openxmlformats.org/officeDocument/2006/relationships/font" Target="fonts/Sora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839cd22fd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a839cd22fd_1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7dc5acb9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7dc5acb9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7dc5acb9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7dc5acb9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7dc5acb9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7dc5acb9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839cd22fd_1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839cd22fd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8109c197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8109c197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8109c197c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8109c197c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8109c197c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8109c197c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839cd22fd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a839cd22fd_1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accen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>
            <p:ph idx="2" type="pic"/>
          </p:nvPr>
        </p:nvSpPr>
        <p:spPr>
          <a:xfrm>
            <a:off x="457200" y="1710158"/>
            <a:ext cx="8229600" cy="2100900"/>
          </a:xfrm>
          <a:prstGeom prst="rect">
            <a:avLst/>
          </a:prstGeom>
          <a:solidFill>
            <a:srgbClr val="757070">
              <a:alpha val="2980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accen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/>
          <p:nvPr>
            <p:ph idx="2" type="pic"/>
          </p:nvPr>
        </p:nvSpPr>
        <p:spPr>
          <a:xfrm>
            <a:off x="457200" y="1710158"/>
            <a:ext cx="8229600" cy="2100900"/>
          </a:xfrm>
          <a:prstGeom prst="rect">
            <a:avLst/>
          </a:prstGeom>
          <a:solidFill>
            <a:srgbClr val="757070">
              <a:alpha val="2980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itle Slide" showMasterSp="0">
  <p:cSld name="16_Title Slide">
    <p:bg>
      <p:bgPr>
        <a:solidFill>
          <a:schemeClr val="accen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Slide">
  <p:cSld name="5_Title Slid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 showMasterSp="0">
  <p:cSld name="3_Title Slide">
    <p:bg>
      <p:bgPr>
        <a:solidFill>
          <a:schemeClr val="accen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Slide">
  <p:cSld name="6_Title Slid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/>
          <p:nvPr>
            <p:ph idx="2" type="pic"/>
          </p:nvPr>
        </p:nvSpPr>
        <p:spPr>
          <a:xfrm>
            <a:off x="457200" y="2385709"/>
            <a:ext cx="2522400" cy="1517700"/>
          </a:xfrm>
          <a:prstGeom prst="rect">
            <a:avLst/>
          </a:prstGeom>
          <a:solidFill>
            <a:srgbClr val="757070">
              <a:alpha val="29800"/>
            </a:srgbClr>
          </a:solidFill>
          <a:ln>
            <a:noFill/>
          </a:ln>
        </p:spPr>
      </p:sp>
      <p:sp>
        <p:nvSpPr>
          <p:cNvPr id="63" name="Google Shape;63;p22"/>
          <p:cNvSpPr/>
          <p:nvPr>
            <p:ph idx="3" type="pic"/>
          </p:nvPr>
        </p:nvSpPr>
        <p:spPr>
          <a:xfrm>
            <a:off x="3310890" y="2385709"/>
            <a:ext cx="2522400" cy="1517700"/>
          </a:xfrm>
          <a:prstGeom prst="rect">
            <a:avLst/>
          </a:prstGeom>
          <a:solidFill>
            <a:srgbClr val="757070">
              <a:alpha val="29800"/>
            </a:srgbClr>
          </a:solidFill>
          <a:ln>
            <a:noFill/>
          </a:ln>
        </p:spPr>
      </p:sp>
      <p:sp>
        <p:nvSpPr>
          <p:cNvPr id="64" name="Google Shape;64;p22"/>
          <p:cNvSpPr/>
          <p:nvPr>
            <p:ph idx="4" type="pic"/>
          </p:nvPr>
        </p:nvSpPr>
        <p:spPr>
          <a:xfrm>
            <a:off x="6164580" y="2385709"/>
            <a:ext cx="2522400" cy="1517700"/>
          </a:xfrm>
          <a:prstGeom prst="rect">
            <a:avLst/>
          </a:prstGeom>
          <a:solidFill>
            <a:srgbClr val="757070">
              <a:alpha val="2980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Slide">
  <p:cSld name="8_Title Slid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/>
          <p:nvPr>
            <p:ph idx="2" type="pic"/>
          </p:nvPr>
        </p:nvSpPr>
        <p:spPr>
          <a:xfrm>
            <a:off x="5333189" y="857250"/>
            <a:ext cx="3353700" cy="3448200"/>
          </a:xfrm>
          <a:prstGeom prst="rect">
            <a:avLst/>
          </a:prstGeom>
          <a:solidFill>
            <a:srgbClr val="757070">
              <a:alpha val="2980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Slide">
  <p:cSld name="15_Title Slid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Slide" showMasterSp="0">
  <p:cSld name="7_Title Slide">
    <p:bg>
      <p:bgPr>
        <a:solidFill>
          <a:schemeClr val="accen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with logo" type="tx">
  <p:cSld name="TITLE_AND_BOD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Slide">
  <p:cSld name="9_Title Slid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/>
          <p:nvPr>
            <p:ph idx="2" type="pic"/>
          </p:nvPr>
        </p:nvSpPr>
        <p:spPr>
          <a:xfrm>
            <a:off x="0" y="2194560"/>
            <a:ext cx="3939600" cy="2520300"/>
          </a:xfrm>
          <a:prstGeom prst="rect">
            <a:avLst/>
          </a:prstGeom>
          <a:solidFill>
            <a:srgbClr val="757070">
              <a:alpha val="2980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Slide">
  <p:cSld name="10_Title Slid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/>
          <p:nvPr>
            <p:ph idx="2" type="pic"/>
          </p:nvPr>
        </p:nvSpPr>
        <p:spPr>
          <a:xfrm>
            <a:off x="6208677" y="857250"/>
            <a:ext cx="2478300" cy="1610100"/>
          </a:xfrm>
          <a:prstGeom prst="rect">
            <a:avLst/>
          </a:prstGeom>
          <a:solidFill>
            <a:srgbClr val="757070">
              <a:alpha val="29800"/>
            </a:srgbClr>
          </a:solidFill>
          <a:ln>
            <a:noFill/>
          </a:ln>
        </p:spPr>
      </p:sp>
      <p:sp>
        <p:nvSpPr>
          <p:cNvPr id="74" name="Google Shape;74;p28"/>
          <p:cNvSpPr/>
          <p:nvPr>
            <p:ph idx="3" type="pic"/>
          </p:nvPr>
        </p:nvSpPr>
        <p:spPr>
          <a:xfrm>
            <a:off x="4343400" y="2727139"/>
            <a:ext cx="4343400" cy="1987800"/>
          </a:xfrm>
          <a:prstGeom prst="rect">
            <a:avLst/>
          </a:prstGeom>
          <a:solidFill>
            <a:srgbClr val="757070">
              <a:alpha val="2980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itle Slide">
  <p:cSld name="11_Title Slid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9"/>
          <p:cNvSpPr/>
          <p:nvPr>
            <p:ph idx="2" type="pic"/>
          </p:nvPr>
        </p:nvSpPr>
        <p:spPr>
          <a:xfrm>
            <a:off x="0" y="2429482"/>
            <a:ext cx="5384400" cy="2285400"/>
          </a:xfrm>
          <a:prstGeom prst="rect">
            <a:avLst/>
          </a:prstGeom>
          <a:solidFill>
            <a:srgbClr val="757070">
              <a:alpha val="2980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itle Slide">
  <p:cSld name="12_Title Slid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Title Slide">
  <p:cSld name="17_Title Slid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/>
          <p:nvPr>
            <p:ph idx="2" type="pic"/>
          </p:nvPr>
        </p:nvSpPr>
        <p:spPr>
          <a:xfrm>
            <a:off x="0" y="857250"/>
            <a:ext cx="2717100" cy="3361800"/>
          </a:xfrm>
          <a:prstGeom prst="rect">
            <a:avLst/>
          </a:prstGeom>
          <a:solidFill>
            <a:srgbClr val="757070">
              <a:alpha val="2980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">
  <p:cSld name="13_Title Slid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/>
          <p:nvPr>
            <p:ph idx="2" type="pic"/>
          </p:nvPr>
        </p:nvSpPr>
        <p:spPr>
          <a:xfrm>
            <a:off x="4459148" y="857250"/>
            <a:ext cx="1927200" cy="2050200"/>
          </a:xfrm>
          <a:prstGeom prst="rect">
            <a:avLst/>
          </a:prstGeom>
          <a:solidFill>
            <a:srgbClr val="757070">
              <a:alpha val="29800"/>
            </a:srgbClr>
          </a:solidFill>
          <a:ln>
            <a:noFill/>
          </a:ln>
        </p:spPr>
      </p:sp>
      <p:sp>
        <p:nvSpPr>
          <p:cNvPr id="82" name="Google Shape;82;p32"/>
          <p:cNvSpPr/>
          <p:nvPr>
            <p:ph idx="3" type="pic"/>
          </p:nvPr>
        </p:nvSpPr>
        <p:spPr>
          <a:xfrm>
            <a:off x="6759615" y="857250"/>
            <a:ext cx="1927200" cy="2050200"/>
          </a:xfrm>
          <a:prstGeom prst="rect">
            <a:avLst/>
          </a:prstGeom>
          <a:solidFill>
            <a:srgbClr val="757070">
              <a:alpha val="2980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Slide">
  <p:cSld name="14_Title Slid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3"/>
          <p:cNvSpPr/>
          <p:nvPr>
            <p:ph idx="2" type="pic"/>
          </p:nvPr>
        </p:nvSpPr>
        <p:spPr>
          <a:xfrm>
            <a:off x="457200" y="2137007"/>
            <a:ext cx="6042000" cy="1951800"/>
          </a:xfrm>
          <a:prstGeom prst="rect">
            <a:avLst/>
          </a:prstGeom>
          <a:solidFill>
            <a:srgbClr val="757070">
              <a:alpha val="2980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Title Slide">
  <p:cSld name="18_Title Slide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4"/>
          <p:cNvSpPr/>
          <p:nvPr>
            <p:ph idx="2" type="pic"/>
          </p:nvPr>
        </p:nvSpPr>
        <p:spPr>
          <a:xfrm>
            <a:off x="5518159" y="1901141"/>
            <a:ext cx="3168600" cy="2219100"/>
          </a:xfrm>
          <a:prstGeom prst="rect">
            <a:avLst/>
          </a:prstGeom>
          <a:solidFill>
            <a:srgbClr val="757070">
              <a:alpha val="2980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 showMasterSp="0">
  <p:cSld name="Custom Layout">
    <p:bg>
      <p:bgPr>
        <a:solidFill>
          <a:schemeClr val="accen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5"/>
          <p:cNvSpPr/>
          <p:nvPr>
            <p:ph idx="2" type="pic"/>
          </p:nvPr>
        </p:nvSpPr>
        <p:spPr>
          <a:xfrm>
            <a:off x="6225096" y="2286078"/>
            <a:ext cx="1884600" cy="1884600"/>
          </a:xfrm>
          <a:prstGeom prst="rect">
            <a:avLst/>
          </a:prstGeom>
          <a:solidFill>
            <a:srgbClr val="757070">
              <a:alpha val="29800"/>
            </a:srgbClr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23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31.xml"/><Relationship Id="rId6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70">
          <p15:clr>
            <a:srgbClr val="F26B43"/>
          </p15:clr>
        </p15:guide>
        <p15:guide id="2" pos="5472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970">
          <p15:clr>
            <a:srgbClr val="F26B43"/>
          </p15:clr>
        </p15:guide>
        <p15:guide id="5" orient="horz" pos="5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1"/>
            </a:gs>
            <a:gs pos="5000">
              <a:schemeClr val="accent1"/>
            </a:gs>
            <a:gs pos="100000">
              <a:srgbClr val="112846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6"/>
          <p:cNvSpPr txBox="1"/>
          <p:nvPr/>
        </p:nvSpPr>
        <p:spPr>
          <a:xfrm>
            <a:off x="312543" y="1521297"/>
            <a:ext cx="79062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Conv2d Reimagined: img2col, GEMM, Sparsity &amp; Quantization</a:t>
            </a:r>
            <a:endParaRPr sz="54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" name="Google Shape;94;p36"/>
          <p:cNvSpPr txBox="1"/>
          <p:nvPr/>
        </p:nvSpPr>
        <p:spPr>
          <a:xfrm>
            <a:off x="417799" y="201550"/>
            <a:ext cx="5541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</a:rPr>
              <a:t>ПШЕНИЧНИКОВ АРТЕМ    |    МАНЖУРА ДМИТРИЙ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7" title="Screenshot from 2025-11-21 14-48-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488" y="1000863"/>
            <a:ext cx="5915025" cy="263842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0" name="Google Shape;100;p37"/>
          <p:cNvSpPr txBox="1"/>
          <p:nvPr/>
        </p:nvSpPr>
        <p:spPr>
          <a:xfrm>
            <a:off x="457200" y="424201"/>
            <a:ext cx="460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400">
                <a:solidFill>
                  <a:srgbClr val="24508C"/>
                </a:solidFill>
                <a:latin typeface="Sora"/>
                <a:ea typeface="Sora"/>
                <a:cs typeface="Sora"/>
                <a:sym typeface="Sora"/>
              </a:rPr>
              <a:t>img2col </a:t>
            </a:r>
            <a:r>
              <a:rPr lang="ru" sz="2400">
                <a:solidFill>
                  <a:srgbClr val="24508C"/>
                </a:solidFill>
              </a:rPr>
              <a:t>преобразование</a:t>
            </a:r>
            <a:endParaRPr sz="2400">
              <a:solidFill>
                <a:srgbClr val="24508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24508C"/>
                </a:solidFill>
                <a:latin typeface="Sora"/>
                <a:ea typeface="Sora"/>
                <a:cs typeface="Sora"/>
                <a:sym typeface="Sora"/>
              </a:rPr>
              <a:t>General Matrix–Matrix Multiplication</a:t>
            </a:r>
            <a:endParaRPr sz="2400"/>
          </a:p>
        </p:txBody>
      </p:sp>
      <p:pic>
        <p:nvPicPr>
          <p:cNvPr id="106" name="Google Shape;106;p38" title="Screenshot from 2025-11-21 14-48-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0363" y="1405826"/>
            <a:ext cx="5703275" cy="353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9"/>
          <p:cNvSpPr/>
          <p:nvPr/>
        </p:nvSpPr>
        <p:spPr>
          <a:xfrm>
            <a:off x="5247695" y="626299"/>
            <a:ext cx="1528500" cy="507600"/>
          </a:xfrm>
          <a:prstGeom prst="roundRect">
            <a:avLst>
              <a:gd fmla="val 16667" name="adj"/>
            </a:avLst>
          </a:prstGeom>
          <a:solidFill>
            <a:srgbClr val="245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24508C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39"/>
          <p:cNvSpPr txBox="1"/>
          <p:nvPr>
            <p:ph type="title"/>
          </p:nvPr>
        </p:nvSpPr>
        <p:spPr>
          <a:xfrm>
            <a:off x="273875" y="627825"/>
            <a:ext cx="8283000" cy="8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24508C"/>
                </a:solidFill>
                <a:latin typeface="Sora"/>
                <a:ea typeface="Sora"/>
                <a:cs typeface="Sora"/>
                <a:sym typeface="Sora"/>
              </a:rPr>
              <a:t>Triton img2col, GEMM, col2img</a:t>
            </a:r>
            <a:r>
              <a:rPr lang="ru" sz="24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ru" sz="2400">
                <a:solidFill>
                  <a:srgbClr val="24508C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ru" sz="24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fp16/int8</a:t>
            </a:r>
            <a:endParaRPr sz="24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13" name="Google Shape;11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9" y="1993650"/>
            <a:ext cx="8839201" cy="2045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24508C"/>
                </a:solidFill>
                <a:latin typeface="Sora"/>
                <a:ea typeface="Sora"/>
                <a:cs typeface="Sora"/>
                <a:sym typeface="Sora"/>
              </a:rPr>
              <a:t>Quantization (Triton int8 </a:t>
            </a:r>
            <a:r>
              <a:rPr lang="ru" sz="24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vs</a:t>
            </a:r>
            <a:r>
              <a:rPr lang="ru" sz="2400">
                <a:solidFill>
                  <a:srgbClr val="24508C"/>
                </a:solidFill>
                <a:latin typeface="Sora"/>
                <a:ea typeface="Sora"/>
                <a:cs typeface="Sora"/>
                <a:sym typeface="Sora"/>
              </a:rPr>
              <a:t> Torch fp16)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119" name="Google Shape;11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163" y="1746050"/>
            <a:ext cx="7305675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24508C"/>
                </a:solidFill>
                <a:latin typeface="Sora"/>
                <a:ea typeface="Sora"/>
                <a:cs typeface="Sora"/>
                <a:sym typeface="Sora"/>
              </a:rPr>
              <a:t>Torch </a:t>
            </a:r>
            <a:r>
              <a:rPr lang="ru" sz="2400">
                <a:solidFill>
                  <a:srgbClr val="24508C"/>
                </a:solidFill>
                <a:latin typeface="Sora"/>
                <a:ea typeface="Sora"/>
                <a:cs typeface="Sora"/>
                <a:sym typeface="Sora"/>
              </a:rPr>
              <a:t>Conv2d fp16 </a:t>
            </a:r>
            <a:r>
              <a:rPr lang="ru" sz="24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vs</a:t>
            </a:r>
            <a:r>
              <a:rPr lang="ru" sz="2400">
                <a:solidFill>
                  <a:srgbClr val="24508C"/>
                </a:solidFill>
                <a:latin typeface="Sora"/>
                <a:ea typeface="Sora"/>
                <a:cs typeface="Sora"/>
                <a:sym typeface="Sora"/>
              </a:rPr>
              <a:t> Triton-Conv2d fp16 + sparsity</a:t>
            </a:r>
            <a:endParaRPr sz="2400">
              <a:solidFill>
                <a:srgbClr val="24508C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25" name="Google Shape;12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338" y="1241683"/>
            <a:ext cx="7553325" cy="34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24508C"/>
                </a:solidFill>
                <a:latin typeface="Sora"/>
                <a:ea typeface="Sora"/>
                <a:cs typeface="Sora"/>
                <a:sym typeface="Sora"/>
              </a:rPr>
              <a:t>Torch Conv2d </a:t>
            </a:r>
            <a:r>
              <a:rPr lang="ru" sz="2200">
                <a:solidFill>
                  <a:srgbClr val="24508C"/>
                </a:solidFill>
                <a:latin typeface="Sora"/>
                <a:ea typeface="Sora"/>
                <a:cs typeface="Sora"/>
                <a:sym typeface="Sora"/>
              </a:rPr>
              <a:t>fp16 </a:t>
            </a:r>
            <a:r>
              <a:rPr lang="ru" sz="2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vs</a:t>
            </a:r>
            <a:r>
              <a:rPr lang="ru" sz="2200">
                <a:solidFill>
                  <a:srgbClr val="24508C"/>
                </a:solidFill>
                <a:latin typeface="Sora"/>
                <a:ea typeface="Sora"/>
                <a:cs typeface="Sora"/>
                <a:sym typeface="Sora"/>
              </a:rPr>
              <a:t> Triton-Conv2d (fp16</a:t>
            </a:r>
            <a:r>
              <a:rPr lang="ru" sz="2200">
                <a:solidFill>
                  <a:srgbClr val="24508C"/>
                </a:solidFill>
                <a:latin typeface="Sora"/>
                <a:ea typeface="Sora"/>
                <a:cs typeface="Sora"/>
                <a:sym typeface="Sora"/>
              </a:rPr>
              <a:t>/fp</a:t>
            </a:r>
            <a:r>
              <a:rPr lang="ru" sz="2200">
                <a:solidFill>
                  <a:srgbClr val="24508C"/>
                </a:solidFill>
                <a:latin typeface="Sora"/>
                <a:ea typeface="Sora"/>
                <a:cs typeface="Sora"/>
                <a:sym typeface="Sora"/>
              </a:rPr>
              <a:t>32 + sparsity) </a:t>
            </a:r>
            <a:r>
              <a:rPr lang="ru" sz="2200">
                <a:solidFill>
                  <a:schemeClr val="dk2"/>
                </a:solidFill>
              </a:rPr>
              <a:t>в</a:t>
            </a:r>
            <a:r>
              <a:rPr lang="ru" sz="2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 ResNet18</a:t>
            </a:r>
            <a:endParaRPr sz="22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31" name="Google Shape;13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9275"/>
            <a:ext cx="8839200" cy="2477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rgbClr val="24508C"/>
                </a:solidFill>
                <a:latin typeface="Sora"/>
                <a:ea typeface="Sora"/>
                <a:cs typeface="Sora"/>
                <a:sym typeface="Sora"/>
              </a:rPr>
              <a:t>Triton-Conv2d </a:t>
            </a:r>
            <a:r>
              <a:rPr lang="ru" sz="24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vs</a:t>
            </a:r>
            <a:r>
              <a:rPr lang="ru" sz="2400">
                <a:solidFill>
                  <a:srgbClr val="24508C"/>
                </a:solidFill>
                <a:latin typeface="Sora"/>
                <a:ea typeface="Sora"/>
                <a:cs typeface="Sora"/>
                <a:sym typeface="Sora"/>
              </a:rPr>
              <a:t> Conv2d  torch </a:t>
            </a:r>
            <a:r>
              <a:rPr lang="ru" sz="2400">
                <a:solidFill>
                  <a:schemeClr val="dk2"/>
                </a:solidFill>
              </a:rPr>
              <a:t>на уровне слоев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137" name="Google Shape;13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90675"/>
            <a:ext cx="8839199" cy="2150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1"/>
            </a:gs>
            <a:gs pos="5000">
              <a:schemeClr val="accent1"/>
            </a:gs>
            <a:gs pos="100000">
              <a:srgbClr val="112846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4"/>
          <p:cNvSpPr txBox="1"/>
          <p:nvPr/>
        </p:nvSpPr>
        <p:spPr>
          <a:xfrm>
            <a:off x="288993" y="2064747"/>
            <a:ext cx="79062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solidFill>
                  <a:schemeClr val="lt1"/>
                </a:solidFill>
              </a:rPr>
              <a:t>Спасибо за внимание</a:t>
            </a:r>
            <a:endParaRPr sz="5400">
              <a:solidFill>
                <a:schemeClr val="lt1"/>
              </a:solidFill>
            </a:endParaRPr>
          </a:p>
        </p:txBody>
      </p:sp>
      <p:sp>
        <p:nvSpPr>
          <p:cNvPr id="143" name="Google Shape;143;p44"/>
          <p:cNvSpPr txBox="1"/>
          <p:nvPr/>
        </p:nvSpPr>
        <p:spPr>
          <a:xfrm>
            <a:off x="417810" y="4041903"/>
            <a:ext cx="5655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44" name="Google Shape;144;p44"/>
          <p:cNvSpPr txBox="1"/>
          <p:nvPr/>
        </p:nvSpPr>
        <p:spPr>
          <a:xfrm>
            <a:off x="417799" y="201550"/>
            <a:ext cx="5541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</a:rPr>
              <a:t>ПШЕНИЧНИКОВ АРТЕМ    |    МАНЖУРА ДМИТРИЙ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42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4508C"/>
      </a:accent1>
      <a:accent2>
        <a:srgbClr val="111A2E"/>
      </a:accent2>
      <a:accent3>
        <a:srgbClr val="3F3F3F"/>
      </a:accent3>
      <a:accent4>
        <a:srgbClr val="3F3F3F"/>
      </a:accent4>
      <a:accent5>
        <a:srgbClr val="3F3F3F"/>
      </a:accent5>
      <a:accent6>
        <a:srgbClr val="3F3F3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